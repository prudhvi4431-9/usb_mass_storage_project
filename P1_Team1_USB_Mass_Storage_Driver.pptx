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386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049439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3753122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70446489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0858076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0287963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973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924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3424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88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1220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9542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207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1275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0210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073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31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722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359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742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3762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203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646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1334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08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846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234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493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7812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830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09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152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6246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3EDC47-E6D1-E2E9-A218-1D623393C6AF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0973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633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6611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F12E01-A9F7-85C5-2979-DA33D3F47A9A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161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4881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2471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1E276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84058" name="Text 0"/>
          <p:cNvSpPr txBox="1"/>
          <p:nvPr/>
        </p:nvSpPr>
        <p:spPr bwMode="auto">
          <a:xfrm>
            <a:off x="731520" y="1113405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Linux USB Mass Storage Device Driver</a:t>
            </a:r>
            <a:r>
              <a:rPr lang="en-US" sz="4000">
                <a:solidFill>
                  <a:schemeClr val="bg1"/>
                </a:solidFill>
              </a:rPr>
              <a:t> </a:t>
            </a:r>
            <a:endParaRPr sz="4000">
              <a:solidFill>
                <a:schemeClr val="bg1"/>
              </a:solidFill>
            </a:endParaRPr>
          </a:p>
        </p:txBody>
      </p:sp>
      <p:sp>
        <p:nvSpPr>
          <p:cNvPr id="763472491" name="Text 1"/>
          <p:cNvSpPr txBox="1"/>
          <p:nvPr/>
        </p:nvSpPr>
        <p:spPr bwMode="auto">
          <a:xfrm>
            <a:off x="731520" y="2184281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Linux Kernel Driver — Block Layer, SCSI and USB Bulk-Only Transport  — Raspberrypi 4</a:t>
            </a:r>
            <a:endParaRPr sz="1800"/>
          </a:p>
        </p:txBody>
      </p:sp>
      <p:graphicFrame>
        <p:nvGraphicFramePr>
          <p:cNvPr id="42091002" name=""/>
          <p:cNvGraphicFramePr>
            <a:graphicFrameLocks xmlns:a="http://schemas.openxmlformats.org/drawingml/2006/main"/>
          </p:cNvGraphicFramePr>
          <p:nvPr/>
        </p:nvGraphicFramePr>
        <p:xfrm rot="0">
          <a:off x="1775197" y="3319133"/>
          <a:ext cx="6422999" cy="2085750"/>
        </p:xfrm>
        <a:graphic>
          <a:graphicData uri="http://schemas.openxmlformats.org/drawingml/2006/table">
            <a:tbl>
              <a:tblPr firstRow="1" firstCol="1" lastRow="0" lastCol="0" bandRow="1" bandCol="0"/>
              <a:tblGrid>
                <a:gridCol w="2733755"/>
                <a:gridCol w="6148023"/>
              </a:tblGrid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Field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Details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1565C0"/>
                    </a:solidFill>
                  </a:tcPr>
                </a:tc>
              </a:tr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Project    Title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Linux </a:t>
                      </a: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USB  Mass Storage Device Driver 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Team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P1    Team 1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EEF4FB"/>
                    </a:solidFill>
                  </a:tcPr>
                </a:tc>
              </a:tr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presented by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A </a:t>
                      </a: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Prudhvi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Platform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Linux  Kernel — C Programming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EEF4FB"/>
                    </a:solidFill>
                  </a:tcPr>
                </a:tc>
              </a:tr>
              <a:tr h="47684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Tools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800" b="0" i="0" u="none" strike="noStrike" cap="none" spc="0">
                          <a:solidFill>
                            <a:srgbClr val="212121"/>
                          </a:solidFill>
                          <a:latin typeface="Calibri"/>
                          <a:ea typeface="Calibri"/>
                          <a:cs typeface="Calibri"/>
                        </a:rPr>
                        <a:t>Raspberry  pi 4, Transcend Card reader ,micro sd card</a:t>
                      </a:r>
                      <a:endParaRPr sz="1800"/>
                    </a:p>
                  </a:txBody>
                  <a:tcPr marL="73152" marR="73152" marT="0" marB="0" anchor="t">
                    <a:lnL w="9524" algn="ctr">
                      <a:solidFill>
                        <a:srgbClr val="000000"/>
                      </a:solidFill>
                    </a:lnL>
                    <a:lnR w="9524" algn="ctr">
                      <a:solidFill>
                        <a:srgbClr val="000000"/>
                      </a:solidFill>
                    </a:lnR>
                    <a:lnT w="9524" algn="ctr">
                      <a:solidFill>
                        <a:srgbClr val="000000"/>
                      </a:solidFill>
                    </a:lnT>
                    <a:lnB w="9524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002848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Project Objective</a:t>
            </a:r>
            <a:endParaRPr lang="en-US" sz="3000"/>
          </a:p>
        </p:txBody>
      </p:sp>
      <p:sp>
        <p:nvSpPr>
          <p:cNvPr id="1722589035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What is USB Mass Storage, and what this driver does</a:t>
            </a:r>
            <a:endParaRPr lang="en-US" sz="1400"/>
          </a:p>
        </p:txBody>
      </p:sp>
      <p:sp>
        <p:nvSpPr>
          <p:cNvPr id="1382007162" name="Shape 2"/>
          <p:cNvSpPr/>
          <p:nvPr/>
        </p:nvSpPr>
        <p:spPr bwMode="auto">
          <a:xfrm>
            <a:off x="548640" y="1554480"/>
            <a:ext cx="5303520" cy="4480560"/>
          </a:xfrm>
          <a:prstGeom prst="roundRect">
            <a:avLst>
              <a:gd name="adj" fmla="val 122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371599075" name="Text 3"/>
          <p:cNvSpPr txBox="1"/>
          <p:nvPr/>
        </p:nvSpPr>
        <p:spPr bwMode="auto"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is USB Mass Storage?</a:t>
            </a:r>
            <a:endParaRPr sz="1800"/>
          </a:p>
        </p:txBody>
      </p:sp>
      <p:sp>
        <p:nvSpPr>
          <p:cNvPr id="1014344355" name="Text 4"/>
          <p:cNvSpPr txBox="1"/>
          <p:nvPr/>
        </p:nvSpPr>
        <p:spPr bwMode="auto">
          <a:xfrm>
            <a:off x="822960" y="2305315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USB standard that lets storage devices such as pen drives and card readers appear to the computer as normal block storage, using SCSI commands over USB.</a:t>
            </a:r>
            <a:endParaRPr sz="1800"/>
          </a:p>
        </p:txBody>
      </p:sp>
      <p:sp>
        <p:nvSpPr>
          <p:cNvPr id="1218939675" name="Text 5"/>
          <p:cNvSpPr txBox="1"/>
          <p:nvPr/>
        </p:nvSpPr>
        <p:spPr bwMode="auto">
          <a:xfrm>
            <a:off x="822960" y="3421911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Purpose of the Project</a:t>
            </a:r>
            <a:endParaRPr sz="1800"/>
          </a:p>
        </p:txBody>
      </p:sp>
      <p:sp>
        <p:nvSpPr>
          <p:cNvPr id="341352092" name="Text 6"/>
          <p:cNvSpPr txBox="1"/>
          <p:nvPr/>
        </p:nvSpPr>
        <p:spPr bwMode="auto">
          <a:xfrm>
            <a:off x="822960" y="3944147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Build a Linux kernel driver that talks to a USB storage device using the Bulk-Only Transport protocol and exposes it to the OS as a normal block device.</a:t>
            </a:r>
            <a:endParaRPr sz="1800"/>
          </a:p>
        </p:txBody>
      </p:sp>
      <p:sp>
        <p:nvSpPr>
          <p:cNvPr id="1222308008" name="Shape 7"/>
          <p:cNvSpPr/>
          <p:nvPr/>
        </p:nvSpPr>
        <p:spPr bwMode="auto">
          <a:xfrm>
            <a:off x="6172200" y="1554480"/>
            <a:ext cx="5440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581013012" name="Text 8"/>
          <p:cNvSpPr txBox="1"/>
          <p:nvPr/>
        </p:nvSpPr>
        <p:spPr bwMode="auto"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Driver Does</a:t>
            </a:r>
            <a:endParaRPr sz="1800"/>
          </a:p>
        </p:txBody>
      </p:sp>
      <p:sp>
        <p:nvSpPr>
          <p:cNvPr id="1217051344" name="Text 9"/>
          <p:cNvSpPr txBox="1"/>
          <p:nvPr/>
        </p:nvSpPr>
        <p:spPr bwMode="auto">
          <a:xfrm flipH="0" flipV="0">
            <a:off x="6446520" y="2240279"/>
            <a:ext cx="4937760" cy="3053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Detects the USB storage device when connected</a:t>
            </a:r>
            <a:endParaRPr sz="1800"/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Identifies it using the INQUIRY SCSI command</a:t>
            </a:r>
            <a:endParaRPr sz="1800"/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Reads device capacity and block size</a:t>
            </a:r>
            <a:endParaRPr sz="1800"/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Creates a block device: /dev/myusbX</a:t>
            </a:r>
            <a:endParaRPr sz="1800"/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Handles read and write requests from the OS</a:t>
            </a:r>
            <a:endParaRPr sz="1800"/>
          </a:p>
          <a:p>
            <a:pPr marL="177800" indent="-177800">
              <a:spcAft>
                <a:spcPts val="1000"/>
              </a:spcAft>
              <a:buSzPct val="100000"/>
              <a:buChar char="•"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Handles errors and safe removal on disconnect</a:t>
            </a:r>
            <a:endParaRPr sz="1800"/>
          </a:p>
        </p:txBody>
      </p:sp>
      <p:sp>
        <p:nvSpPr>
          <p:cNvPr id="1737988712" name="Text 10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771728134" name="Text 11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2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551695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Driver Architecture</a:t>
            </a:r>
            <a:endParaRPr lang="en-US" sz="3000"/>
          </a:p>
        </p:txBody>
      </p:sp>
      <p:sp>
        <p:nvSpPr>
          <p:cNvPr id="545238193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How a request travels from the application to the USB drive</a:t>
            </a:r>
            <a:endParaRPr lang="en-US" sz="1400"/>
          </a:p>
        </p:txBody>
      </p:sp>
      <p:sp>
        <p:nvSpPr>
          <p:cNvPr id="144529695" name="Shape 2"/>
          <p:cNvSpPr/>
          <p:nvPr/>
        </p:nvSpPr>
        <p:spPr bwMode="auto">
          <a:xfrm>
            <a:off x="2253996" y="1298448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</p:sp>
      <p:sp>
        <p:nvSpPr>
          <p:cNvPr id="1081331100" name="Text 3"/>
          <p:cNvSpPr txBox="1"/>
          <p:nvPr/>
        </p:nvSpPr>
        <p:spPr bwMode="auto">
          <a:xfrm>
            <a:off x="2400300" y="1335024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Application</a:t>
            </a:r>
            <a:endParaRPr lang="en-US" sz="1300"/>
          </a:p>
        </p:txBody>
      </p:sp>
      <p:sp>
        <p:nvSpPr>
          <p:cNvPr id="930122196" name="Text 4"/>
          <p:cNvSpPr txBox="1"/>
          <p:nvPr/>
        </p:nvSpPr>
        <p:spPr bwMode="auto">
          <a:xfrm>
            <a:off x="2400300" y="1609344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User program (mount, dd, cp) issues a file read or write</a:t>
            </a:r>
            <a:endParaRPr sz="1800"/>
          </a:p>
        </p:txBody>
      </p:sp>
      <p:sp>
        <p:nvSpPr>
          <p:cNvPr id="640756620" name="Shape 5"/>
          <p:cNvSpPr/>
          <p:nvPr/>
        </p:nvSpPr>
        <p:spPr bwMode="auto">
          <a:xfrm>
            <a:off x="5993892" y="1920240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955377781" name="Shape 6"/>
          <p:cNvSpPr/>
          <p:nvPr/>
        </p:nvSpPr>
        <p:spPr bwMode="auto">
          <a:xfrm>
            <a:off x="2253996" y="1993392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457526096" name="Text 7"/>
          <p:cNvSpPr txBox="1"/>
          <p:nvPr/>
        </p:nvSpPr>
        <p:spPr bwMode="auto">
          <a:xfrm>
            <a:off x="2400300" y="2029968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VFS (Virtual File System)</a:t>
            </a:r>
            <a:endParaRPr sz="1800"/>
          </a:p>
        </p:txBody>
      </p:sp>
      <p:sp>
        <p:nvSpPr>
          <p:cNvPr id="956599570" name="Text 8"/>
          <p:cNvSpPr txBox="1"/>
          <p:nvPr/>
        </p:nvSpPr>
        <p:spPr bwMode="auto">
          <a:xfrm>
            <a:off x="2400300" y="2304288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Routes the request to the correct block/file system driver</a:t>
            </a:r>
            <a:endParaRPr sz="1800"/>
          </a:p>
        </p:txBody>
      </p:sp>
      <p:sp>
        <p:nvSpPr>
          <p:cNvPr id="1444966926" name="Shape 9"/>
          <p:cNvSpPr/>
          <p:nvPr/>
        </p:nvSpPr>
        <p:spPr bwMode="auto">
          <a:xfrm>
            <a:off x="5993892" y="2615184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606084525" name="Shape 10"/>
          <p:cNvSpPr/>
          <p:nvPr/>
        </p:nvSpPr>
        <p:spPr bwMode="auto">
          <a:xfrm>
            <a:off x="2253996" y="2688336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831752751" name="Text 11"/>
          <p:cNvSpPr txBox="1"/>
          <p:nvPr/>
        </p:nvSpPr>
        <p:spPr bwMode="auto">
          <a:xfrm>
            <a:off x="2400300" y="2724911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Block Layer / blk-mq</a:t>
            </a:r>
            <a:endParaRPr sz="1800"/>
          </a:p>
        </p:txBody>
      </p:sp>
      <p:sp>
        <p:nvSpPr>
          <p:cNvPr id="1629340171" name="Text 12"/>
          <p:cNvSpPr txBox="1"/>
          <p:nvPr/>
        </p:nvSpPr>
        <p:spPr bwMode="auto">
          <a:xfrm>
            <a:off x="2400300" y="2999232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Converts the request into queued I/O work for the device</a:t>
            </a:r>
            <a:endParaRPr sz="1800"/>
          </a:p>
        </p:txBody>
      </p:sp>
      <p:sp>
        <p:nvSpPr>
          <p:cNvPr id="14431017" name="Shape 13"/>
          <p:cNvSpPr/>
          <p:nvPr/>
        </p:nvSpPr>
        <p:spPr bwMode="auto">
          <a:xfrm>
            <a:off x="5993892" y="3310127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919563747" name="Shape 14"/>
          <p:cNvSpPr/>
          <p:nvPr/>
        </p:nvSpPr>
        <p:spPr bwMode="auto">
          <a:xfrm>
            <a:off x="2253996" y="3383280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497528536" name="Text 15"/>
          <p:cNvSpPr txBox="1"/>
          <p:nvPr/>
        </p:nvSpPr>
        <p:spPr bwMode="auto">
          <a:xfrm>
            <a:off x="2400300" y="3419856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USB Mass Storage Driver</a:t>
            </a:r>
            <a:endParaRPr sz="1800"/>
          </a:p>
        </p:txBody>
      </p:sp>
      <p:sp>
        <p:nvSpPr>
          <p:cNvPr id="1719587542" name="Text 16"/>
          <p:cNvSpPr txBox="1"/>
          <p:nvPr/>
        </p:nvSpPr>
        <p:spPr bwMode="auto">
          <a:xfrm>
            <a:off x="2400300" y="3694176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Our driver converts the block request into SCSI commands</a:t>
            </a:r>
            <a:endParaRPr sz="1800"/>
          </a:p>
        </p:txBody>
      </p:sp>
      <p:sp>
        <p:nvSpPr>
          <p:cNvPr id="1717025291" name="Shape 17"/>
          <p:cNvSpPr/>
          <p:nvPr/>
        </p:nvSpPr>
        <p:spPr bwMode="auto">
          <a:xfrm>
            <a:off x="5993892" y="4005072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961660768" name="Shape 18"/>
          <p:cNvSpPr/>
          <p:nvPr/>
        </p:nvSpPr>
        <p:spPr bwMode="auto">
          <a:xfrm>
            <a:off x="2253996" y="4078224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211489283" name="Text 19"/>
          <p:cNvSpPr txBox="1"/>
          <p:nvPr/>
        </p:nvSpPr>
        <p:spPr bwMode="auto">
          <a:xfrm>
            <a:off x="2400300" y="4114800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SCSI Commands</a:t>
            </a:r>
            <a:endParaRPr sz="1800"/>
          </a:p>
        </p:txBody>
      </p:sp>
      <p:sp>
        <p:nvSpPr>
          <p:cNvPr id="902500022" name="Text 20"/>
          <p:cNvSpPr txBox="1"/>
          <p:nvPr/>
        </p:nvSpPr>
        <p:spPr bwMode="auto">
          <a:xfrm>
            <a:off x="2400300" y="4389120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Commands like READ(10) / WRITE(10) describe the operation</a:t>
            </a:r>
            <a:endParaRPr sz="1800"/>
          </a:p>
        </p:txBody>
      </p:sp>
      <p:sp>
        <p:nvSpPr>
          <p:cNvPr id="1672304015" name="Shape 21"/>
          <p:cNvSpPr/>
          <p:nvPr/>
        </p:nvSpPr>
        <p:spPr bwMode="auto">
          <a:xfrm>
            <a:off x="5993892" y="4700016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81781703" name="Shape 22"/>
          <p:cNvSpPr/>
          <p:nvPr/>
        </p:nvSpPr>
        <p:spPr bwMode="auto">
          <a:xfrm>
            <a:off x="2253996" y="4773168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671679296" name="Text 23"/>
          <p:cNvSpPr txBox="1"/>
          <p:nvPr/>
        </p:nvSpPr>
        <p:spPr bwMode="auto">
          <a:xfrm>
            <a:off x="2400300" y="4809744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USB Bulk-Only Transport</a:t>
            </a:r>
            <a:endParaRPr sz="1800"/>
          </a:p>
        </p:txBody>
      </p:sp>
      <p:sp>
        <p:nvSpPr>
          <p:cNvPr id="1245042099" name="Text 24"/>
          <p:cNvSpPr txBox="1"/>
          <p:nvPr/>
        </p:nvSpPr>
        <p:spPr bwMode="auto">
          <a:xfrm>
            <a:off x="2400300" y="5084064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Command and data are exchanged as CBW → Data → CSW</a:t>
            </a:r>
            <a:endParaRPr sz="1800"/>
          </a:p>
        </p:txBody>
      </p:sp>
      <p:sp>
        <p:nvSpPr>
          <p:cNvPr id="837303542" name="Shape 25"/>
          <p:cNvSpPr/>
          <p:nvPr/>
        </p:nvSpPr>
        <p:spPr bwMode="auto">
          <a:xfrm>
            <a:off x="5993892" y="5394960"/>
            <a:ext cx="201168" cy="7315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25060337" name="Shape 26"/>
          <p:cNvSpPr/>
          <p:nvPr/>
        </p:nvSpPr>
        <p:spPr bwMode="auto">
          <a:xfrm>
            <a:off x="2253996" y="5468112"/>
            <a:ext cx="7680960" cy="621792"/>
          </a:xfrm>
          <a:prstGeom prst="roundRect">
            <a:avLst>
              <a:gd name="adj" fmla="val 1029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471963081" name="Text 27"/>
          <p:cNvSpPr txBox="1"/>
          <p:nvPr/>
        </p:nvSpPr>
        <p:spPr bwMode="auto">
          <a:xfrm>
            <a:off x="2400300" y="5504687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8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USB Flash Drive</a:t>
            </a:r>
            <a:endParaRPr sz="1800"/>
          </a:p>
        </p:txBody>
      </p:sp>
      <p:sp>
        <p:nvSpPr>
          <p:cNvPr id="164312277" name="Text 28"/>
          <p:cNvSpPr txBox="1"/>
          <p:nvPr/>
        </p:nvSpPr>
        <p:spPr bwMode="auto">
          <a:xfrm>
            <a:off x="2400300" y="5779008"/>
            <a:ext cx="7388352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8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Physical device executes the command and returns data/status</a:t>
            </a:r>
            <a:endParaRPr sz="1800"/>
          </a:p>
        </p:txBody>
      </p:sp>
      <p:sp>
        <p:nvSpPr>
          <p:cNvPr id="291342932" name="Text 29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588516485" name="Text 30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3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438319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USB Mass Storage Protocol</a:t>
            </a:r>
            <a:endParaRPr lang="en-US" sz="3000"/>
          </a:p>
        </p:txBody>
      </p:sp>
      <p:sp>
        <p:nvSpPr>
          <p:cNvPr id="832761506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Command flow and the SCSI commands used in the driver</a:t>
            </a:r>
            <a:endParaRPr lang="en-US" sz="1400"/>
          </a:p>
        </p:txBody>
      </p:sp>
      <p:sp>
        <p:nvSpPr>
          <p:cNvPr id="9187140" name="Shape 2"/>
          <p:cNvSpPr/>
          <p:nvPr/>
        </p:nvSpPr>
        <p:spPr bwMode="auto">
          <a:xfrm>
            <a:off x="790956" y="150875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18068722" name="Text 3"/>
          <p:cNvSpPr txBox="1"/>
          <p:nvPr/>
        </p:nvSpPr>
        <p:spPr bwMode="auto">
          <a:xfrm>
            <a:off x="790956" y="1508759"/>
            <a:ext cx="32004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CBW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Command Block Wrapper</a:t>
            </a:r>
            <a:endParaRPr lang="en-US" sz="1300"/>
          </a:p>
        </p:txBody>
      </p:sp>
      <p:sp>
        <p:nvSpPr>
          <p:cNvPr id="1057030606" name="Text 4"/>
          <p:cNvSpPr txBox="1"/>
          <p:nvPr/>
        </p:nvSpPr>
        <p:spPr bwMode="auto">
          <a:xfrm>
            <a:off x="790956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sends the command</a:t>
            </a:r>
            <a:endParaRPr sz="1600"/>
          </a:p>
        </p:txBody>
      </p:sp>
      <p:sp>
        <p:nvSpPr>
          <p:cNvPr id="580585771" name="Shape 5"/>
          <p:cNvSpPr/>
          <p:nvPr/>
        </p:nvSpPr>
        <p:spPr bwMode="auto">
          <a:xfrm>
            <a:off x="3991356" y="1933955"/>
            <a:ext cx="502920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</p:sp>
      <p:sp>
        <p:nvSpPr>
          <p:cNvPr id="1804877802" name="Shape 6"/>
          <p:cNvSpPr/>
          <p:nvPr/>
        </p:nvSpPr>
        <p:spPr bwMode="auto">
          <a:xfrm>
            <a:off x="4494276" y="150875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41194073" name="Text 7"/>
          <p:cNvSpPr txBox="1"/>
          <p:nvPr/>
        </p:nvSpPr>
        <p:spPr bwMode="auto">
          <a:xfrm>
            <a:off x="4494276" y="1508759"/>
            <a:ext cx="32004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Transfer</a:t>
            </a:r>
            <a:endParaRPr lang="en-US" sz="1300"/>
          </a:p>
        </p:txBody>
      </p:sp>
      <p:sp>
        <p:nvSpPr>
          <p:cNvPr id="160501548" name="Text 8"/>
          <p:cNvSpPr txBox="1"/>
          <p:nvPr/>
        </p:nvSpPr>
        <p:spPr bwMode="auto">
          <a:xfrm>
            <a:off x="4494276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read or write payload</a:t>
            </a:r>
            <a:endParaRPr sz="1600"/>
          </a:p>
        </p:txBody>
      </p:sp>
      <p:sp>
        <p:nvSpPr>
          <p:cNvPr id="2096801570" name="Shape 9"/>
          <p:cNvSpPr/>
          <p:nvPr/>
        </p:nvSpPr>
        <p:spPr bwMode="auto">
          <a:xfrm>
            <a:off x="7694676" y="1933955"/>
            <a:ext cx="502920" cy="201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</p:sp>
      <p:sp>
        <p:nvSpPr>
          <p:cNvPr id="2127141697" name="Shape 10"/>
          <p:cNvSpPr/>
          <p:nvPr/>
        </p:nvSpPr>
        <p:spPr bwMode="auto">
          <a:xfrm>
            <a:off x="8197596" y="1508759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57866800" name="Text 11"/>
          <p:cNvSpPr txBox="1"/>
          <p:nvPr/>
        </p:nvSpPr>
        <p:spPr bwMode="auto">
          <a:xfrm>
            <a:off x="8197596" y="1508759"/>
            <a:ext cx="320040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CSW</a:t>
            </a:r>
            <a:endParaRPr lang="en-US" sz="1300"/>
          </a:p>
          <a:p>
            <a:pPr marL="0" indent="0" algn="ctr">
              <a:buNone/>
              <a:defRPr/>
            </a:pPr>
            <a:r>
              <a:rPr lang="en-US" sz="13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Command Status Wrapper</a:t>
            </a:r>
            <a:endParaRPr lang="en-US" sz="1300"/>
          </a:p>
        </p:txBody>
      </p:sp>
      <p:sp>
        <p:nvSpPr>
          <p:cNvPr id="1542893975" name="Text 12"/>
          <p:cNvSpPr txBox="1"/>
          <p:nvPr/>
        </p:nvSpPr>
        <p:spPr bwMode="auto">
          <a:xfrm>
            <a:off x="8197596" y="2633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reports success/failure</a:t>
            </a:r>
            <a:endParaRPr sz="1600"/>
          </a:p>
        </p:txBody>
      </p:sp>
      <p:sp>
        <p:nvSpPr>
          <p:cNvPr id="1901904629" name="Text 13"/>
          <p:cNvSpPr txBox="1"/>
          <p:nvPr/>
        </p:nvSpPr>
        <p:spPr bwMode="auto"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SCSI Commands Used</a:t>
            </a:r>
            <a:endParaRPr lang="en-US" sz="1500"/>
          </a:p>
        </p:txBody>
      </p:sp>
      <p:sp>
        <p:nvSpPr>
          <p:cNvPr id="1167185462" name="Shape 14"/>
          <p:cNvSpPr/>
          <p:nvPr/>
        </p:nvSpPr>
        <p:spPr bwMode="auto">
          <a:xfrm>
            <a:off x="548640" y="3703320"/>
            <a:ext cx="2834640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991450341" name="Shape 15"/>
          <p:cNvSpPr/>
          <p:nvPr/>
        </p:nvSpPr>
        <p:spPr bwMode="auto">
          <a:xfrm>
            <a:off x="3383280" y="3703320"/>
            <a:ext cx="8321039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7221448" name="Text 16"/>
          <p:cNvSpPr txBox="1"/>
          <p:nvPr/>
        </p:nvSpPr>
        <p:spPr bwMode="auto">
          <a:xfrm>
            <a:off x="658368" y="37033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INQUIRY</a:t>
            </a:r>
            <a:endParaRPr sz="1600"/>
          </a:p>
        </p:txBody>
      </p:sp>
      <p:sp>
        <p:nvSpPr>
          <p:cNvPr id="394434764" name="Text 17"/>
          <p:cNvSpPr txBox="1"/>
          <p:nvPr/>
        </p:nvSpPr>
        <p:spPr bwMode="auto">
          <a:xfrm>
            <a:off x="3520440" y="370332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Identifies the device (vendor, product, revision)</a:t>
            </a:r>
            <a:endParaRPr sz="1600"/>
          </a:p>
        </p:txBody>
      </p:sp>
      <p:sp>
        <p:nvSpPr>
          <p:cNvPr id="2015308687" name="Shape 18"/>
          <p:cNvSpPr/>
          <p:nvPr/>
        </p:nvSpPr>
        <p:spPr bwMode="auto">
          <a:xfrm>
            <a:off x="548640" y="4178808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103734622" name="Shape 19"/>
          <p:cNvSpPr/>
          <p:nvPr/>
        </p:nvSpPr>
        <p:spPr bwMode="auto">
          <a:xfrm>
            <a:off x="3383280" y="4178808"/>
            <a:ext cx="832103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625726410" name="Text 20"/>
          <p:cNvSpPr txBox="1"/>
          <p:nvPr/>
        </p:nvSpPr>
        <p:spPr bwMode="auto">
          <a:xfrm>
            <a:off x="658368" y="41788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TEST UNIT READY</a:t>
            </a:r>
            <a:endParaRPr sz="1600"/>
          </a:p>
        </p:txBody>
      </p:sp>
      <p:sp>
        <p:nvSpPr>
          <p:cNvPr id="633889407" name="Text 21"/>
          <p:cNvSpPr txBox="1"/>
          <p:nvPr/>
        </p:nvSpPr>
        <p:spPr bwMode="auto">
          <a:xfrm>
            <a:off x="3520440" y="41788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Checks if the device is ready for use</a:t>
            </a:r>
            <a:endParaRPr sz="1600"/>
          </a:p>
        </p:txBody>
      </p:sp>
      <p:sp>
        <p:nvSpPr>
          <p:cNvPr id="1006549589" name="Shape 22"/>
          <p:cNvSpPr/>
          <p:nvPr/>
        </p:nvSpPr>
        <p:spPr bwMode="auto">
          <a:xfrm>
            <a:off x="548640" y="4654296"/>
            <a:ext cx="2834640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995615075" name="Shape 23"/>
          <p:cNvSpPr/>
          <p:nvPr/>
        </p:nvSpPr>
        <p:spPr bwMode="auto">
          <a:xfrm>
            <a:off x="3383280" y="4654296"/>
            <a:ext cx="8321039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98144786" name="Text 24"/>
          <p:cNvSpPr txBox="1"/>
          <p:nvPr/>
        </p:nvSpPr>
        <p:spPr bwMode="auto">
          <a:xfrm>
            <a:off x="658368" y="465429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REQUEST SENSE</a:t>
            </a:r>
            <a:endParaRPr sz="1600"/>
          </a:p>
        </p:txBody>
      </p:sp>
      <p:sp>
        <p:nvSpPr>
          <p:cNvPr id="674904712" name="Text 25"/>
          <p:cNvSpPr txBox="1"/>
          <p:nvPr/>
        </p:nvSpPr>
        <p:spPr bwMode="auto">
          <a:xfrm>
            <a:off x="3520440" y="46542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Gets error details after a failed command</a:t>
            </a:r>
            <a:endParaRPr sz="1600"/>
          </a:p>
        </p:txBody>
      </p:sp>
      <p:sp>
        <p:nvSpPr>
          <p:cNvPr id="596124269" name="Shape 26"/>
          <p:cNvSpPr/>
          <p:nvPr/>
        </p:nvSpPr>
        <p:spPr bwMode="auto">
          <a:xfrm>
            <a:off x="548640" y="5129784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14086368" name="Shape 27"/>
          <p:cNvSpPr/>
          <p:nvPr/>
        </p:nvSpPr>
        <p:spPr bwMode="auto">
          <a:xfrm>
            <a:off x="3383280" y="5129784"/>
            <a:ext cx="832103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71112762" name="Text 28"/>
          <p:cNvSpPr txBox="1"/>
          <p:nvPr/>
        </p:nvSpPr>
        <p:spPr bwMode="auto">
          <a:xfrm>
            <a:off x="658368" y="51297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 CAPACITY(10)</a:t>
            </a:r>
            <a:endParaRPr sz="1600"/>
          </a:p>
        </p:txBody>
      </p:sp>
      <p:sp>
        <p:nvSpPr>
          <p:cNvPr id="85684474" name="Text 29"/>
          <p:cNvSpPr txBox="1"/>
          <p:nvPr/>
        </p:nvSpPr>
        <p:spPr bwMode="auto">
          <a:xfrm>
            <a:off x="3520440" y="512978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Reads block size and last LBA (total capacity)</a:t>
            </a:r>
            <a:endParaRPr sz="1600"/>
          </a:p>
        </p:txBody>
      </p:sp>
      <p:sp>
        <p:nvSpPr>
          <p:cNvPr id="1838890696" name="Shape 30"/>
          <p:cNvSpPr/>
          <p:nvPr/>
        </p:nvSpPr>
        <p:spPr bwMode="auto">
          <a:xfrm>
            <a:off x="548640" y="5605272"/>
            <a:ext cx="2834640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68226374" name="Shape 31"/>
          <p:cNvSpPr/>
          <p:nvPr/>
        </p:nvSpPr>
        <p:spPr bwMode="auto">
          <a:xfrm>
            <a:off x="3383280" y="5605272"/>
            <a:ext cx="8321039" cy="47548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370181402" name="Text 32"/>
          <p:cNvSpPr txBox="1"/>
          <p:nvPr/>
        </p:nvSpPr>
        <p:spPr bwMode="auto">
          <a:xfrm>
            <a:off x="658368" y="56052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READ(10)</a:t>
            </a:r>
            <a:endParaRPr sz="1600"/>
          </a:p>
        </p:txBody>
      </p:sp>
      <p:sp>
        <p:nvSpPr>
          <p:cNvPr id="733899685" name="Text 33"/>
          <p:cNvSpPr txBox="1"/>
          <p:nvPr/>
        </p:nvSpPr>
        <p:spPr bwMode="auto">
          <a:xfrm>
            <a:off x="3520440" y="560527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Reads data blocks from the device</a:t>
            </a:r>
            <a:endParaRPr sz="1600"/>
          </a:p>
        </p:txBody>
      </p:sp>
      <p:sp>
        <p:nvSpPr>
          <p:cNvPr id="67179155" name="Shape 34"/>
          <p:cNvSpPr/>
          <p:nvPr/>
        </p:nvSpPr>
        <p:spPr bwMode="auto">
          <a:xfrm>
            <a:off x="548640" y="6080760"/>
            <a:ext cx="28346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263821570" name="Shape 35"/>
          <p:cNvSpPr/>
          <p:nvPr/>
        </p:nvSpPr>
        <p:spPr bwMode="auto">
          <a:xfrm>
            <a:off x="3383280" y="6080760"/>
            <a:ext cx="8321039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38394366" name="Text 36"/>
          <p:cNvSpPr txBox="1"/>
          <p:nvPr/>
        </p:nvSpPr>
        <p:spPr bwMode="auto">
          <a:xfrm>
            <a:off x="658368" y="60807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WRITE(10)</a:t>
            </a:r>
            <a:endParaRPr lang="en-US" sz="1250"/>
          </a:p>
        </p:txBody>
      </p:sp>
      <p:sp>
        <p:nvSpPr>
          <p:cNvPr id="577803443" name="Text 37"/>
          <p:cNvSpPr txBox="1"/>
          <p:nvPr/>
        </p:nvSpPr>
        <p:spPr bwMode="auto">
          <a:xfrm>
            <a:off x="3520440" y="60807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Writes data blocks to the device</a:t>
            </a:r>
            <a:endParaRPr sz="1600"/>
          </a:p>
        </p:txBody>
      </p:sp>
      <p:sp>
        <p:nvSpPr>
          <p:cNvPr id="1549397666" name="Text 38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002680041" name="Text 39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4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545385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Device Detection and Removal</a:t>
            </a:r>
            <a:endParaRPr lang="en-US" sz="3000"/>
          </a:p>
        </p:txBody>
      </p:sp>
      <p:sp>
        <p:nvSpPr>
          <p:cNvPr id="1678283313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What happens when the USB drive is connected and disconnected</a:t>
            </a:r>
            <a:endParaRPr lang="en-US" sz="1400"/>
          </a:p>
        </p:txBody>
      </p:sp>
      <p:sp>
        <p:nvSpPr>
          <p:cNvPr id="830960190" name="Text 2"/>
          <p:cNvSpPr txBox="1"/>
          <p:nvPr/>
        </p:nvSpPr>
        <p:spPr bwMode="auto"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 Connect (Probe Flow)</a:t>
            </a:r>
            <a:endParaRPr lang="en-US" sz="1500"/>
          </a:p>
        </p:txBody>
      </p:sp>
      <p:sp>
        <p:nvSpPr>
          <p:cNvPr id="658736114" name="Shape 3"/>
          <p:cNvSpPr/>
          <p:nvPr/>
        </p:nvSpPr>
        <p:spPr bwMode="auto">
          <a:xfrm>
            <a:off x="548640" y="1783080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807525067" name="Text 4"/>
          <p:cNvSpPr txBox="1"/>
          <p:nvPr/>
        </p:nvSpPr>
        <p:spPr bwMode="auto">
          <a:xfrm>
            <a:off x="694944" y="1819656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USB Device Connected</a:t>
            </a:r>
            <a:endParaRPr sz="1600"/>
          </a:p>
        </p:txBody>
      </p:sp>
      <p:sp>
        <p:nvSpPr>
          <p:cNvPr id="2097054636" name="Text 5"/>
          <p:cNvSpPr txBox="1"/>
          <p:nvPr/>
        </p:nvSpPr>
        <p:spPr bwMode="auto">
          <a:xfrm>
            <a:off x="694944" y="2039112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Kernel detects a new device on the USB bus</a:t>
            </a:r>
            <a:endParaRPr sz="1600"/>
          </a:p>
        </p:txBody>
      </p:sp>
      <p:sp>
        <p:nvSpPr>
          <p:cNvPr id="1062716380" name="Shape 6"/>
          <p:cNvSpPr/>
          <p:nvPr/>
        </p:nvSpPr>
        <p:spPr bwMode="auto">
          <a:xfrm>
            <a:off x="3122676" y="2295144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53498512" name="Shape 7"/>
          <p:cNvSpPr/>
          <p:nvPr/>
        </p:nvSpPr>
        <p:spPr bwMode="auto">
          <a:xfrm>
            <a:off x="548640" y="2359152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81320495" name="Text 8"/>
          <p:cNvSpPr txBox="1"/>
          <p:nvPr/>
        </p:nvSpPr>
        <p:spPr bwMode="auto">
          <a:xfrm>
            <a:off x="694944" y="2395728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Probe Function Runs</a:t>
            </a:r>
            <a:endParaRPr sz="1600"/>
          </a:p>
        </p:txBody>
      </p:sp>
      <p:sp>
        <p:nvSpPr>
          <p:cNvPr id="106443277" name="Text 9"/>
          <p:cNvSpPr txBox="1"/>
          <p:nvPr/>
        </p:nvSpPr>
        <p:spPr bwMode="auto">
          <a:xfrm>
            <a:off x="694944" y="2615184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Kernel calls our driver's probe() function</a:t>
            </a:r>
            <a:endParaRPr sz="1600"/>
          </a:p>
        </p:txBody>
      </p:sp>
      <p:sp>
        <p:nvSpPr>
          <p:cNvPr id="757143438" name="Shape 10"/>
          <p:cNvSpPr/>
          <p:nvPr/>
        </p:nvSpPr>
        <p:spPr bwMode="auto">
          <a:xfrm>
            <a:off x="3122676" y="2871216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11408025" name="Shape 11"/>
          <p:cNvSpPr/>
          <p:nvPr/>
        </p:nvSpPr>
        <p:spPr bwMode="auto">
          <a:xfrm>
            <a:off x="548640" y="2935224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14511140" name="Text 12"/>
          <p:cNvSpPr txBox="1"/>
          <p:nvPr/>
        </p:nvSpPr>
        <p:spPr bwMode="auto">
          <a:xfrm>
            <a:off x="694944" y="2971800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Find Bulk IN / Bulk OUT Endpoints</a:t>
            </a:r>
            <a:endParaRPr sz="1600"/>
          </a:p>
        </p:txBody>
      </p:sp>
      <p:sp>
        <p:nvSpPr>
          <p:cNvPr id="1957723424" name="Text 13"/>
          <p:cNvSpPr txBox="1"/>
          <p:nvPr/>
        </p:nvSpPr>
        <p:spPr bwMode="auto">
          <a:xfrm>
            <a:off x="694944" y="3191256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Driver locates the endpoints used for data transfer</a:t>
            </a:r>
            <a:endParaRPr sz="1600"/>
          </a:p>
        </p:txBody>
      </p:sp>
      <p:sp>
        <p:nvSpPr>
          <p:cNvPr id="234852871" name="Shape 14"/>
          <p:cNvSpPr/>
          <p:nvPr/>
        </p:nvSpPr>
        <p:spPr bwMode="auto">
          <a:xfrm>
            <a:off x="3122676" y="3447288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531919332" name="Shape 15"/>
          <p:cNvSpPr/>
          <p:nvPr/>
        </p:nvSpPr>
        <p:spPr bwMode="auto">
          <a:xfrm>
            <a:off x="548640" y="3511296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739221007" name="Text 16"/>
          <p:cNvSpPr txBox="1"/>
          <p:nvPr/>
        </p:nvSpPr>
        <p:spPr bwMode="auto">
          <a:xfrm>
            <a:off x="694944" y="3547872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INQUIRY</a:t>
            </a:r>
            <a:endParaRPr sz="1600"/>
          </a:p>
        </p:txBody>
      </p:sp>
      <p:sp>
        <p:nvSpPr>
          <p:cNvPr id="1292862706" name="Text 17"/>
          <p:cNvSpPr txBox="1"/>
          <p:nvPr/>
        </p:nvSpPr>
        <p:spPr bwMode="auto">
          <a:xfrm>
            <a:off x="694944" y="3767328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Identifies the device (vendor, product, revision)</a:t>
            </a:r>
            <a:endParaRPr sz="1600"/>
          </a:p>
        </p:txBody>
      </p:sp>
      <p:sp>
        <p:nvSpPr>
          <p:cNvPr id="1501149662" name="Shape 18"/>
          <p:cNvSpPr/>
          <p:nvPr/>
        </p:nvSpPr>
        <p:spPr bwMode="auto">
          <a:xfrm>
            <a:off x="3122676" y="4023360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211530746" name="Shape 19"/>
          <p:cNvSpPr/>
          <p:nvPr/>
        </p:nvSpPr>
        <p:spPr bwMode="auto">
          <a:xfrm>
            <a:off x="548640" y="4087368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990977867" name="Text 20"/>
          <p:cNvSpPr txBox="1"/>
          <p:nvPr/>
        </p:nvSpPr>
        <p:spPr bwMode="auto">
          <a:xfrm>
            <a:off x="694944" y="4123944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TEST UNIT READY</a:t>
            </a:r>
            <a:endParaRPr sz="1600"/>
          </a:p>
        </p:txBody>
      </p:sp>
      <p:sp>
        <p:nvSpPr>
          <p:cNvPr id="1937125671" name="Text 21"/>
          <p:cNvSpPr txBox="1"/>
          <p:nvPr/>
        </p:nvSpPr>
        <p:spPr bwMode="auto">
          <a:xfrm>
            <a:off x="694944" y="4343400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Checks that the device is ready for use</a:t>
            </a:r>
            <a:endParaRPr sz="1600"/>
          </a:p>
        </p:txBody>
      </p:sp>
      <p:sp>
        <p:nvSpPr>
          <p:cNvPr id="1817579292" name="Shape 22"/>
          <p:cNvSpPr/>
          <p:nvPr/>
        </p:nvSpPr>
        <p:spPr bwMode="auto">
          <a:xfrm>
            <a:off x="3122676" y="4599432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642313559" name="Shape 23"/>
          <p:cNvSpPr/>
          <p:nvPr/>
        </p:nvSpPr>
        <p:spPr bwMode="auto">
          <a:xfrm>
            <a:off x="548640" y="4663440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467102341" name="Text 24"/>
          <p:cNvSpPr txBox="1"/>
          <p:nvPr/>
        </p:nvSpPr>
        <p:spPr bwMode="auto">
          <a:xfrm>
            <a:off x="694944" y="4700016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 CAPACITY</a:t>
            </a:r>
            <a:endParaRPr sz="1600"/>
          </a:p>
        </p:txBody>
      </p:sp>
      <p:sp>
        <p:nvSpPr>
          <p:cNvPr id="1649626874" name="Text 25"/>
          <p:cNvSpPr txBox="1"/>
          <p:nvPr/>
        </p:nvSpPr>
        <p:spPr bwMode="auto">
          <a:xfrm>
            <a:off x="694944" y="4919471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Reads block size and total capacity</a:t>
            </a:r>
            <a:endParaRPr sz="1600"/>
          </a:p>
        </p:txBody>
      </p:sp>
      <p:sp>
        <p:nvSpPr>
          <p:cNvPr id="960020346" name="Shape 26"/>
          <p:cNvSpPr/>
          <p:nvPr/>
        </p:nvSpPr>
        <p:spPr bwMode="auto">
          <a:xfrm>
            <a:off x="3122676" y="5175504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2097294006" name="Shape 27"/>
          <p:cNvSpPr/>
          <p:nvPr/>
        </p:nvSpPr>
        <p:spPr bwMode="auto">
          <a:xfrm>
            <a:off x="548640" y="5239512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798479037" name="Text 28"/>
          <p:cNvSpPr txBox="1"/>
          <p:nvPr/>
        </p:nvSpPr>
        <p:spPr bwMode="auto">
          <a:xfrm>
            <a:off x="694944" y="5276088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Create Block Device</a:t>
            </a:r>
            <a:endParaRPr sz="1600"/>
          </a:p>
        </p:txBody>
      </p:sp>
      <p:sp>
        <p:nvSpPr>
          <p:cNvPr id="2002693561" name="Text 29"/>
          <p:cNvSpPr txBox="1"/>
          <p:nvPr/>
        </p:nvSpPr>
        <p:spPr bwMode="auto">
          <a:xfrm>
            <a:off x="694944" y="5495544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Sets up blk-mq and registers a gendisk</a:t>
            </a:r>
            <a:endParaRPr sz="1600"/>
          </a:p>
        </p:txBody>
      </p:sp>
      <p:sp>
        <p:nvSpPr>
          <p:cNvPr id="81994898" name="Shape 30"/>
          <p:cNvSpPr/>
          <p:nvPr/>
        </p:nvSpPr>
        <p:spPr bwMode="auto">
          <a:xfrm>
            <a:off x="3122676" y="5751576"/>
            <a:ext cx="201168" cy="6400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498499740" name="Shape 31"/>
          <p:cNvSpPr/>
          <p:nvPr/>
        </p:nvSpPr>
        <p:spPr bwMode="auto">
          <a:xfrm>
            <a:off x="548640" y="5815584"/>
            <a:ext cx="5349240" cy="512064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361461269" name="Text 32"/>
          <p:cNvSpPr txBox="1"/>
          <p:nvPr/>
        </p:nvSpPr>
        <p:spPr bwMode="auto">
          <a:xfrm>
            <a:off x="694944" y="5852160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/dev/myusbX Ready</a:t>
            </a:r>
            <a:endParaRPr sz="1600"/>
          </a:p>
        </p:txBody>
      </p:sp>
      <p:sp>
        <p:nvSpPr>
          <p:cNvPr id="176357661" name="Text 33"/>
          <p:cNvSpPr txBox="1"/>
          <p:nvPr/>
        </p:nvSpPr>
        <p:spPr bwMode="auto">
          <a:xfrm>
            <a:off x="694944" y="6071616"/>
            <a:ext cx="5056632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Device is now usable like any other disk</a:t>
            </a:r>
            <a:endParaRPr sz="1600"/>
          </a:p>
        </p:txBody>
      </p:sp>
      <p:sp>
        <p:nvSpPr>
          <p:cNvPr id="580129017" name="Text 34"/>
          <p:cNvSpPr txBox="1"/>
          <p:nvPr/>
        </p:nvSpPr>
        <p:spPr bwMode="auto">
          <a:xfrm>
            <a:off x="6172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 Disconnect</a:t>
            </a:r>
            <a:endParaRPr lang="en-US" sz="1500"/>
          </a:p>
        </p:txBody>
      </p:sp>
      <p:sp>
        <p:nvSpPr>
          <p:cNvPr id="2125192439" name="Shape 35"/>
          <p:cNvSpPr/>
          <p:nvPr/>
        </p:nvSpPr>
        <p:spPr bwMode="auto">
          <a:xfrm>
            <a:off x="6172200" y="1783080"/>
            <a:ext cx="5486400" cy="4617720"/>
          </a:xfrm>
          <a:prstGeom prst="roundRect">
            <a:avLst>
              <a:gd name="adj" fmla="val 1188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683614365" name="Text 36"/>
          <p:cNvSpPr txBox="1"/>
          <p:nvPr/>
        </p:nvSpPr>
        <p:spPr bwMode="auto">
          <a:xfrm>
            <a:off x="6446520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USB drive is unplugged</a:t>
            </a:r>
            <a:endParaRPr sz="1600"/>
          </a:p>
        </p:txBody>
      </p:sp>
      <p:sp>
        <p:nvSpPr>
          <p:cNvPr id="89013715" name="Text 37"/>
          <p:cNvSpPr txBox="1"/>
          <p:nvPr/>
        </p:nvSpPr>
        <p:spPr bwMode="auto">
          <a:xfrm>
            <a:off x="644652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kernel calls the driver's disconnect() function</a:t>
            </a:r>
            <a:endParaRPr sz="1600"/>
          </a:p>
        </p:txBody>
      </p:sp>
      <p:sp>
        <p:nvSpPr>
          <p:cNvPr id="1057283865" name="Text 38"/>
          <p:cNvSpPr txBox="1"/>
          <p:nvPr/>
        </p:nvSpPr>
        <p:spPr bwMode="auto">
          <a:xfrm>
            <a:off x="6446520" y="28986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Device marked as disconnected</a:t>
            </a:r>
            <a:endParaRPr sz="1600"/>
          </a:p>
        </p:txBody>
      </p:sp>
      <p:sp>
        <p:nvSpPr>
          <p:cNvPr id="94313400" name="Text 39"/>
          <p:cNvSpPr txBox="1"/>
          <p:nvPr/>
        </p:nvSpPr>
        <p:spPr bwMode="auto">
          <a:xfrm>
            <a:off x="6446520" y="3191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An atomic flag stops any new I/O from starting</a:t>
            </a:r>
            <a:endParaRPr sz="1600"/>
          </a:p>
        </p:txBody>
      </p:sp>
      <p:sp>
        <p:nvSpPr>
          <p:cNvPr id="581200008" name="Text 40"/>
          <p:cNvSpPr txBox="1"/>
          <p:nvPr/>
        </p:nvSpPr>
        <p:spPr bwMode="auto">
          <a:xfrm>
            <a:off x="6446520" y="3739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In-progress I/O finishes safely</a:t>
            </a:r>
            <a:endParaRPr sz="1600"/>
          </a:p>
        </p:txBody>
      </p:sp>
      <p:sp>
        <p:nvSpPr>
          <p:cNvPr id="595299722" name="Text 41"/>
          <p:cNvSpPr txBox="1"/>
          <p:nvPr/>
        </p:nvSpPr>
        <p:spPr bwMode="auto">
          <a:xfrm>
            <a:off x="6446520" y="4032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driver waits on the I/O mutex before removing the disk</a:t>
            </a:r>
            <a:endParaRPr sz="1600"/>
          </a:p>
        </p:txBody>
      </p:sp>
      <p:sp>
        <p:nvSpPr>
          <p:cNvPr id="1304944907" name="Text 42"/>
          <p:cNvSpPr txBox="1"/>
          <p:nvPr/>
        </p:nvSpPr>
        <p:spPr bwMode="auto">
          <a:xfrm>
            <a:off x="6446520" y="45811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Block device is removed</a:t>
            </a:r>
            <a:endParaRPr sz="1600"/>
          </a:p>
        </p:txBody>
      </p:sp>
      <p:sp>
        <p:nvSpPr>
          <p:cNvPr id="457003175" name="Text 43"/>
          <p:cNvSpPr txBox="1"/>
          <p:nvPr/>
        </p:nvSpPr>
        <p:spPr bwMode="auto">
          <a:xfrm>
            <a:off x="6446520" y="487375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del_gendisk() and put_disk() take /dev/myusbX offline</a:t>
            </a:r>
            <a:endParaRPr sz="1600"/>
          </a:p>
        </p:txBody>
      </p:sp>
      <p:sp>
        <p:nvSpPr>
          <p:cNvPr id="751550462" name="Text 44"/>
          <p:cNvSpPr txBox="1"/>
          <p:nvPr/>
        </p:nvSpPr>
        <p:spPr bwMode="auto">
          <a:xfrm>
            <a:off x="6446520" y="5422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Resources are freed</a:t>
            </a:r>
            <a:endParaRPr sz="1600"/>
          </a:p>
        </p:txBody>
      </p:sp>
      <p:sp>
        <p:nvSpPr>
          <p:cNvPr id="2077305393" name="Text 45"/>
          <p:cNvSpPr txBox="1"/>
          <p:nvPr/>
        </p:nvSpPr>
        <p:spPr bwMode="auto">
          <a:xfrm>
            <a:off x="6446520" y="5715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USB device reference and driver memory (kfree) are released</a:t>
            </a:r>
            <a:endParaRPr sz="1600"/>
          </a:p>
        </p:txBody>
      </p:sp>
      <p:sp>
        <p:nvSpPr>
          <p:cNvPr id="1952644656" name="Text 46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405103520" name="Text 47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5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655484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Read and Write Operation</a:t>
            </a:r>
            <a:endParaRPr lang="en-US" sz="3000"/>
          </a:p>
        </p:txBody>
      </p:sp>
      <p:sp>
        <p:nvSpPr>
          <p:cNvPr id="567941481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How data moves between the application and the USB drive</a:t>
            </a:r>
            <a:endParaRPr lang="en-US" sz="1400"/>
          </a:p>
        </p:txBody>
      </p:sp>
      <p:sp>
        <p:nvSpPr>
          <p:cNvPr id="978633768" name="Shape 2"/>
          <p:cNvSpPr/>
          <p:nvPr/>
        </p:nvSpPr>
        <p:spPr bwMode="auto">
          <a:xfrm>
            <a:off x="548640" y="14630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1919310857" name="Text 3"/>
          <p:cNvSpPr txBox="1"/>
          <p:nvPr/>
        </p:nvSpPr>
        <p:spPr bwMode="auto">
          <a:xfrm>
            <a:off x="548640" y="1463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Operation</a:t>
            </a:r>
            <a:endParaRPr lang="en-US" sz="1500"/>
          </a:p>
        </p:txBody>
      </p:sp>
      <p:sp>
        <p:nvSpPr>
          <p:cNvPr id="1159965931" name="Shape 4"/>
          <p:cNvSpPr/>
          <p:nvPr/>
        </p:nvSpPr>
        <p:spPr bwMode="auto">
          <a:xfrm>
            <a:off x="6309360" y="1463040"/>
            <a:ext cx="52578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724115806" name="Text 5"/>
          <p:cNvSpPr txBox="1"/>
          <p:nvPr/>
        </p:nvSpPr>
        <p:spPr bwMode="auto">
          <a:xfrm>
            <a:off x="6309360" y="146304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Operation</a:t>
            </a:r>
            <a:endParaRPr lang="en-US" sz="1500"/>
          </a:p>
        </p:txBody>
      </p:sp>
      <p:sp>
        <p:nvSpPr>
          <p:cNvPr id="998159680" name="Shape 6"/>
          <p:cNvSpPr/>
          <p:nvPr/>
        </p:nvSpPr>
        <p:spPr bwMode="auto">
          <a:xfrm>
            <a:off x="548640" y="217627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89951931" name="Text 7"/>
          <p:cNvSpPr txBox="1"/>
          <p:nvPr/>
        </p:nvSpPr>
        <p:spPr bwMode="auto">
          <a:xfrm>
            <a:off x="694944" y="221284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Application requests READ</a:t>
            </a:r>
            <a:endParaRPr sz="1600"/>
          </a:p>
        </p:txBody>
      </p:sp>
      <p:sp>
        <p:nvSpPr>
          <p:cNvPr id="1956221599" name="Text 8"/>
          <p:cNvSpPr txBox="1"/>
          <p:nvPr/>
        </p:nvSpPr>
        <p:spPr bwMode="auto">
          <a:xfrm>
            <a:off x="694944" y="253288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e.g. dd or cat calls the read() system call</a:t>
            </a:r>
            <a:endParaRPr sz="1600"/>
          </a:p>
        </p:txBody>
      </p:sp>
      <p:sp>
        <p:nvSpPr>
          <p:cNvPr id="584767518" name="Shape 9"/>
          <p:cNvSpPr/>
          <p:nvPr/>
        </p:nvSpPr>
        <p:spPr bwMode="auto">
          <a:xfrm>
            <a:off x="3076956" y="288950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048497147" name="Shape 10"/>
          <p:cNvSpPr/>
          <p:nvPr/>
        </p:nvSpPr>
        <p:spPr bwMode="auto">
          <a:xfrm>
            <a:off x="548640" y="299923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255531856" name="Text 11"/>
          <p:cNvSpPr txBox="1"/>
          <p:nvPr/>
        </p:nvSpPr>
        <p:spPr bwMode="auto">
          <a:xfrm>
            <a:off x="694944" y="303580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Block layer creates a request</a:t>
            </a:r>
            <a:endParaRPr sz="1600"/>
          </a:p>
        </p:txBody>
      </p:sp>
      <p:sp>
        <p:nvSpPr>
          <p:cNvPr id="997766538" name="Text 12"/>
          <p:cNvSpPr txBox="1"/>
          <p:nvPr/>
        </p:nvSpPr>
        <p:spPr bwMode="auto">
          <a:xfrm>
            <a:off x="694944" y="335584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blk-mq dispatches it by calling queue_rq()</a:t>
            </a:r>
            <a:endParaRPr sz="1600"/>
          </a:p>
        </p:txBody>
      </p:sp>
      <p:sp>
        <p:nvSpPr>
          <p:cNvPr id="1271948103" name="Shape 13"/>
          <p:cNvSpPr/>
          <p:nvPr/>
        </p:nvSpPr>
        <p:spPr bwMode="auto">
          <a:xfrm>
            <a:off x="3076956" y="371246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2137874917" name="Shape 14"/>
          <p:cNvSpPr/>
          <p:nvPr/>
        </p:nvSpPr>
        <p:spPr bwMode="auto">
          <a:xfrm>
            <a:off x="548640" y="382219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839309245" name="Text 15"/>
          <p:cNvSpPr txBox="1"/>
          <p:nvPr/>
        </p:nvSpPr>
        <p:spPr bwMode="auto">
          <a:xfrm>
            <a:off x="694944" y="385876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Sector is converted to LBA</a:t>
            </a:r>
            <a:endParaRPr sz="1600"/>
          </a:p>
        </p:txBody>
      </p:sp>
      <p:sp>
        <p:nvSpPr>
          <p:cNvPr id="1478527310" name="Text 16"/>
          <p:cNvSpPr txBox="1"/>
          <p:nvPr/>
        </p:nvSpPr>
        <p:spPr bwMode="auto">
          <a:xfrm>
            <a:off x="694944" y="417880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READ(10) SCSI command is built for the driver</a:t>
            </a:r>
            <a:endParaRPr sz="1600"/>
          </a:p>
        </p:txBody>
      </p:sp>
      <p:sp>
        <p:nvSpPr>
          <p:cNvPr id="1871953543" name="Shape 17"/>
          <p:cNvSpPr/>
          <p:nvPr/>
        </p:nvSpPr>
        <p:spPr bwMode="auto">
          <a:xfrm>
            <a:off x="3076956" y="453542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932987641" name="Shape 18"/>
          <p:cNvSpPr/>
          <p:nvPr/>
        </p:nvSpPr>
        <p:spPr bwMode="auto">
          <a:xfrm>
            <a:off x="548640" y="464515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184424292" name="Text 19"/>
          <p:cNvSpPr txBox="1"/>
          <p:nvPr/>
        </p:nvSpPr>
        <p:spPr bwMode="auto">
          <a:xfrm>
            <a:off x="694944" y="468172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CBW sent, data returned via Bulk IN</a:t>
            </a:r>
            <a:endParaRPr sz="1600"/>
          </a:p>
        </p:txBody>
      </p:sp>
      <p:sp>
        <p:nvSpPr>
          <p:cNvPr id="1640762471" name="Text 20"/>
          <p:cNvSpPr txBox="1"/>
          <p:nvPr/>
        </p:nvSpPr>
        <p:spPr bwMode="auto">
          <a:xfrm>
            <a:off x="694944" y="500176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usb_bulk_msg() carries out the transfer</a:t>
            </a:r>
            <a:endParaRPr sz="1600"/>
          </a:p>
        </p:txBody>
      </p:sp>
      <p:sp>
        <p:nvSpPr>
          <p:cNvPr id="1310851145" name="Shape 21"/>
          <p:cNvSpPr/>
          <p:nvPr/>
        </p:nvSpPr>
        <p:spPr bwMode="auto">
          <a:xfrm>
            <a:off x="3076956" y="535838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891306291" name="Shape 22"/>
          <p:cNvSpPr/>
          <p:nvPr/>
        </p:nvSpPr>
        <p:spPr bwMode="auto">
          <a:xfrm>
            <a:off x="548640" y="546811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220516453" name="Text 23"/>
          <p:cNvSpPr txBox="1"/>
          <p:nvPr/>
        </p:nvSpPr>
        <p:spPr bwMode="auto">
          <a:xfrm>
            <a:off x="694944" y="5504687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 copied into the request</a:t>
            </a:r>
            <a:endParaRPr sz="1600"/>
          </a:p>
        </p:txBody>
      </p:sp>
      <p:sp>
        <p:nvSpPr>
          <p:cNvPr id="958686654" name="Text 24"/>
          <p:cNvSpPr txBox="1"/>
          <p:nvPr/>
        </p:nvSpPr>
        <p:spPr bwMode="auto">
          <a:xfrm>
            <a:off x="694944" y="582472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blk_mq_end_request() completes the I/O</a:t>
            </a:r>
            <a:endParaRPr sz="1600"/>
          </a:p>
        </p:txBody>
      </p:sp>
      <p:sp>
        <p:nvSpPr>
          <p:cNvPr id="1891418865" name="Shape 25"/>
          <p:cNvSpPr/>
          <p:nvPr/>
        </p:nvSpPr>
        <p:spPr bwMode="auto">
          <a:xfrm>
            <a:off x="6309360" y="217627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507614101" name="Text 26"/>
          <p:cNvSpPr txBox="1"/>
          <p:nvPr/>
        </p:nvSpPr>
        <p:spPr bwMode="auto">
          <a:xfrm>
            <a:off x="6455664" y="221284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Application requests WRITE</a:t>
            </a:r>
            <a:endParaRPr sz="1600"/>
          </a:p>
        </p:txBody>
      </p:sp>
      <p:sp>
        <p:nvSpPr>
          <p:cNvPr id="862744182" name="Text 27"/>
          <p:cNvSpPr txBox="1"/>
          <p:nvPr/>
        </p:nvSpPr>
        <p:spPr bwMode="auto">
          <a:xfrm>
            <a:off x="6455664" y="253288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e.g. dd or cp calls the write() system call</a:t>
            </a:r>
            <a:endParaRPr sz="1600"/>
          </a:p>
        </p:txBody>
      </p:sp>
      <p:sp>
        <p:nvSpPr>
          <p:cNvPr id="1124862484" name="Shape 28"/>
          <p:cNvSpPr/>
          <p:nvPr/>
        </p:nvSpPr>
        <p:spPr bwMode="auto">
          <a:xfrm>
            <a:off x="8837676" y="288950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689263361" name="Shape 29"/>
          <p:cNvSpPr/>
          <p:nvPr/>
        </p:nvSpPr>
        <p:spPr bwMode="auto">
          <a:xfrm>
            <a:off x="6309360" y="299923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4248890" name="Text 30"/>
          <p:cNvSpPr txBox="1"/>
          <p:nvPr/>
        </p:nvSpPr>
        <p:spPr bwMode="auto">
          <a:xfrm>
            <a:off x="6455664" y="303580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Block layer creates a request</a:t>
            </a:r>
            <a:endParaRPr sz="1600"/>
          </a:p>
        </p:txBody>
      </p:sp>
      <p:sp>
        <p:nvSpPr>
          <p:cNvPr id="1162714119" name="Text 31"/>
          <p:cNvSpPr txBox="1"/>
          <p:nvPr/>
        </p:nvSpPr>
        <p:spPr bwMode="auto">
          <a:xfrm>
            <a:off x="6455664" y="335584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blk-mq dispatches it by calling queue_rq()</a:t>
            </a:r>
            <a:endParaRPr sz="1600"/>
          </a:p>
        </p:txBody>
      </p:sp>
      <p:sp>
        <p:nvSpPr>
          <p:cNvPr id="785497547" name="Shape 32"/>
          <p:cNvSpPr/>
          <p:nvPr/>
        </p:nvSpPr>
        <p:spPr bwMode="auto">
          <a:xfrm>
            <a:off x="8837676" y="371246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70675053" name="Shape 33"/>
          <p:cNvSpPr/>
          <p:nvPr/>
        </p:nvSpPr>
        <p:spPr bwMode="auto">
          <a:xfrm>
            <a:off x="6309360" y="382219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93989257" name="Text 34"/>
          <p:cNvSpPr txBox="1"/>
          <p:nvPr/>
        </p:nvSpPr>
        <p:spPr bwMode="auto">
          <a:xfrm>
            <a:off x="6455664" y="385876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Data copied from the request</a:t>
            </a:r>
            <a:endParaRPr sz="1600"/>
          </a:p>
        </p:txBody>
      </p:sp>
      <p:sp>
        <p:nvSpPr>
          <p:cNvPr id="2128403055" name="Text 35"/>
          <p:cNvSpPr txBox="1"/>
          <p:nvPr/>
        </p:nvSpPr>
        <p:spPr bwMode="auto">
          <a:xfrm>
            <a:off x="6455664" y="417880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kmap_local_page() maps pages into memory</a:t>
            </a:r>
            <a:endParaRPr sz="1600"/>
          </a:p>
        </p:txBody>
      </p:sp>
      <p:sp>
        <p:nvSpPr>
          <p:cNvPr id="621202881" name="Shape 36"/>
          <p:cNvSpPr/>
          <p:nvPr/>
        </p:nvSpPr>
        <p:spPr bwMode="auto">
          <a:xfrm>
            <a:off x="8837676" y="453542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1134955210" name="Shape 37"/>
          <p:cNvSpPr/>
          <p:nvPr/>
        </p:nvSpPr>
        <p:spPr bwMode="auto">
          <a:xfrm>
            <a:off x="6309360" y="464515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366536005" name="Text 38"/>
          <p:cNvSpPr txBox="1"/>
          <p:nvPr/>
        </p:nvSpPr>
        <p:spPr bwMode="auto">
          <a:xfrm>
            <a:off x="6455664" y="468172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WRITE(10) sent as CBW, data via Bulk OUT</a:t>
            </a:r>
            <a:endParaRPr sz="1600"/>
          </a:p>
        </p:txBody>
      </p:sp>
      <p:sp>
        <p:nvSpPr>
          <p:cNvPr id="1583319815" name="Text 39"/>
          <p:cNvSpPr txBox="1"/>
          <p:nvPr/>
        </p:nvSpPr>
        <p:spPr bwMode="auto">
          <a:xfrm>
            <a:off x="6455664" y="500176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usb_bulk_msg() carries out the transfer</a:t>
            </a:r>
            <a:endParaRPr sz="1600"/>
          </a:p>
        </p:txBody>
      </p:sp>
      <p:sp>
        <p:nvSpPr>
          <p:cNvPr id="454672023" name="Shape 40"/>
          <p:cNvSpPr/>
          <p:nvPr/>
        </p:nvSpPr>
        <p:spPr bwMode="auto">
          <a:xfrm>
            <a:off x="8837676" y="5358384"/>
            <a:ext cx="201168" cy="10972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/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241047522" name="Shape 41"/>
          <p:cNvSpPr/>
          <p:nvPr/>
        </p:nvSpPr>
        <p:spPr bwMode="auto">
          <a:xfrm>
            <a:off x="6309360" y="5468112"/>
            <a:ext cx="5257800" cy="713232"/>
          </a:xfrm>
          <a:prstGeom prst="roundRect">
            <a:avLst>
              <a:gd name="adj" fmla="val 8974"/>
            </a:avLst>
          </a:prstGeom>
          <a:solidFill>
            <a:srgbClr val="F4F6FB"/>
          </a:solidFill>
          <a:ln w="13970">
            <a:solidFill>
              <a:srgbClr val="1E276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600"/>
          </a:p>
        </p:txBody>
      </p:sp>
      <p:sp>
        <p:nvSpPr>
          <p:cNvPr id="460704396" name="Text 42"/>
          <p:cNvSpPr txBox="1"/>
          <p:nvPr/>
        </p:nvSpPr>
        <p:spPr bwMode="auto">
          <a:xfrm>
            <a:off x="6455664" y="5504687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  <a:defRPr/>
            </a:pPr>
            <a:r>
              <a:rPr lang="en-US" sz="1600" b="1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CSW confirms completion</a:t>
            </a:r>
            <a:endParaRPr sz="1600"/>
          </a:p>
        </p:txBody>
      </p:sp>
      <p:sp>
        <p:nvSpPr>
          <p:cNvPr id="1531350084" name="Text 43"/>
          <p:cNvSpPr txBox="1"/>
          <p:nvPr/>
        </p:nvSpPr>
        <p:spPr bwMode="auto">
          <a:xfrm>
            <a:off x="6455664" y="5824728"/>
            <a:ext cx="4965192" cy="32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16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blk_mq_end_request() completes the I/O</a:t>
            </a:r>
            <a:endParaRPr sz="1600"/>
          </a:p>
        </p:txBody>
      </p:sp>
      <p:sp>
        <p:nvSpPr>
          <p:cNvPr id="468307659" name="Text 44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133451565" name="Text 45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432094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Error Handling</a:t>
            </a:r>
            <a:endParaRPr lang="en-US" sz="3000"/>
          </a:p>
        </p:txBody>
      </p:sp>
      <p:sp>
        <p:nvSpPr>
          <p:cNvPr id="1987542952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How the driver deals with failures and unexpected conditions</a:t>
            </a:r>
            <a:endParaRPr lang="en-US" sz="1400"/>
          </a:p>
        </p:txBody>
      </p:sp>
      <p:sp>
        <p:nvSpPr>
          <p:cNvPr id="1355400684" name="Shape 2"/>
          <p:cNvSpPr/>
          <p:nvPr/>
        </p:nvSpPr>
        <p:spPr bwMode="auto">
          <a:xfrm>
            <a:off x="548640" y="155448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88557506" name="Text 3"/>
          <p:cNvSpPr txBox="1"/>
          <p:nvPr/>
        </p:nvSpPr>
        <p:spPr bwMode="auto">
          <a:xfrm>
            <a:off x="749808" y="166420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USB Transfer Failure</a:t>
            </a:r>
            <a:endParaRPr lang="en-US" sz="1350"/>
          </a:p>
        </p:txBody>
      </p:sp>
      <p:sp>
        <p:nvSpPr>
          <p:cNvPr id="1271736795" name="Text 4"/>
          <p:cNvSpPr txBox="1"/>
          <p:nvPr/>
        </p:nvSpPr>
        <p:spPr bwMode="auto">
          <a:xfrm>
            <a:off x="749808" y="201168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Bulk transfer errors are detected and reported</a:t>
            </a:r>
            <a:endParaRPr lang="en-US" sz="1150"/>
          </a:p>
        </p:txBody>
      </p:sp>
      <p:sp>
        <p:nvSpPr>
          <p:cNvPr id="1129122631" name="Shape 5"/>
          <p:cNvSpPr/>
          <p:nvPr/>
        </p:nvSpPr>
        <p:spPr bwMode="auto">
          <a:xfrm>
            <a:off x="6277356" y="155448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845509130" name="Text 6"/>
          <p:cNvSpPr txBox="1"/>
          <p:nvPr/>
        </p:nvSpPr>
        <p:spPr bwMode="auto">
          <a:xfrm>
            <a:off x="6478524" y="166420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Endpoint Halt</a:t>
            </a:r>
            <a:endParaRPr lang="en-US" sz="1350"/>
          </a:p>
        </p:txBody>
      </p:sp>
      <p:sp>
        <p:nvSpPr>
          <p:cNvPr id="298716755" name="Text 7"/>
          <p:cNvSpPr txBox="1"/>
          <p:nvPr/>
        </p:nvSpPr>
        <p:spPr bwMode="auto">
          <a:xfrm>
            <a:off x="6478524" y="201168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stalled endpoint is cleared with usb_clear_halt()</a:t>
            </a:r>
            <a:endParaRPr lang="en-US" sz="1150"/>
          </a:p>
        </p:txBody>
      </p:sp>
      <p:sp>
        <p:nvSpPr>
          <p:cNvPr id="1913012998" name="Shape 8"/>
          <p:cNvSpPr/>
          <p:nvPr/>
        </p:nvSpPr>
        <p:spPr bwMode="auto">
          <a:xfrm>
            <a:off x="548640" y="310896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957819936" name="Text 9"/>
          <p:cNvSpPr txBox="1"/>
          <p:nvPr/>
        </p:nvSpPr>
        <p:spPr bwMode="auto">
          <a:xfrm>
            <a:off x="749808" y="321868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CSW Validation</a:t>
            </a:r>
            <a:endParaRPr lang="en-US" sz="1350"/>
          </a:p>
        </p:txBody>
      </p:sp>
      <p:sp>
        <p:nvSpPr>
          <p:cNvPr id="403316576" name="Text 10"/>
          <p:cNvSpPr txBox="1"/>
          <p:nvPr/>
        </p:nvSpPr>
        <p:spPr bwMode="auto">
          <a:xfrm>
            <a:off x="749808" y="356616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Signature, tag and status are checked before accepting the result</a:t>
            </a:r>
            <a:endParaRPr lang="en-US" sz="1150"/>
          </a:p>
        </p:txBody>
      </p:sp>
      <p:sp>
        <p:nvSpPr>
          <p:cNvPr id="1337732979" name="Shape 11"/>
          <p:cNvSpPr/>
          <p:nvPr/>
        </p:nvSpPr>
        <p:spPr bwMode="auto">
          <a:xfrm>
            <a:off x="6277356" y="310896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160995998" name="Text 12"/>
          <p:cNvSpPr txBox="1"/>
          <p:nvPr/>
        </p:nvSpPr>
        <p:spPr bwMode="auto">
          <a:xfrm>
            <a:off x="6478524" y="321868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Invalid LBA / Block Size</a:t>
            </a:r>
            <a:endParaRPr lang="en-US" sz="1350"/>
          </a:p>
        </p:txBody>
      </p:sp>
      <p:sp>
        <p:nvSpPr>
          <p:cNvPr id="734456311" name="Text 13"/>
          <p:cNvSpPr txBox="1"/>
          <p:nvPr/>
        </p:nvSpPr>
        <p:spPr bwMode="auto">
          <a:xfrm>
            <a:off x="6478524" y="356616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Read/write requests outside device capacity are rejected</a:t>
            </a:r>
            <a:endParaRPr lang="en-US" sz="1150"/>
          </a:p>
        </p:txBody>
      </p:sp>
      <p:sp>
        <p:nvSpPr>
          <p:cNvPr id="897620137" name="Shape 14"/>
          <p:cNvSpPr/>
          <p:nvPr/>
        </p:nvSpPr>
        <p:spPr bwMode="auto">
          <a:xfrm>
            <a:off x="548640" y="466344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929162246" name="Text 15"/>
          <p:cNvSpPr txBox="1"/>
          <p:nvPr/>
        </p:nvSpPr>
        <p:spPr bwMode="auto">
          <a:xfrm>
            <a:off x="749808" y="477316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Device Disconnect</a:t>
            </a:r>
            <a:endParaRPr lang="en-US" sz="1350"/>
          </a:p>
        </p:txBody>
      </p:sp>
      <p:sp>
        <p:nvSpPr>
          <p:cNvPr id="215032410" name="Text 16"/>
          <p:cNvSpPr txBox="1"/>
          <p:nvPr/>
        </p:nvSpPr>
        <p:spPr bwMode="auto">
          <a:xfrm>
            <a:off x="749808" y="512064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In-progress I/O is stopped safely if the device is removed</a:t>
            </a:r>
            <a:endParaRPr lang="en-US" sz="1150"/>
          </a:p>
        </p:txBody>
      </p:sp>
      <p:sp>
        <p:nvSpPr>
          <p:cNvPr id="1356227706" name="Shape 17"/>
          <p:cNvSpPr/>
          <p:nvPr/>
        </p:nvSpPr>
        <p:spPr bwMode="auto">
          <a:xfrm>
            <a:off x="6277356" y="4663440"/>
            <a:ext cx="5362956" cy="123444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9865710" name="Text 18"/>
          <p:cNvSpPr txBox="1"/>
          <p:nvPr/>
        </p:nvSpPr>
        <p:spPr bwMode="auto">
          <a:xfrm>
            <a:off x="6478524" y="4773168"/>
            <a:ext cx="49606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Reset Recovery</a:t>
            </a:r>
            <a:endParaRPr lang="en-US" sz="1350"/>
          </a:p>
        </p:txBody>
      </p:sp>
      <p:sp>
        <p:nvSpPr>
          <p:cNvPr id="1392800996" name="Text 19"/>
          <p:cNvSpPr txBox="1"/>
          <p:nvPr/>
        </p:nvSpPr>
        <p:spPr bwMode="auto">
          <a:xfrm>
            <a:off x="6478524" y="5120640"/>
            <a:ext cx="49606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A mass-storage reset is issued to recover from protocol errors</a:t>
            </a:r>
            <a:endParaRPr lang="en-US" sz="1150"/>
          </a:p>
        </p:txBody>
      </p:sp>
      <p:sp>
        <p:nvSpPr>
          <p:cNvPr id="497404797" name="Text 20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498864643" name="Text 21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8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730356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2F5597"/>
                </a:solidFill>
                <a:latin typeface="Cambria"/>
                <a:ea typeface="Cambria"/>
                <a:cs typeface="Cambria"/>
              </a:rPr>
              <a:t>Testing</a:t>
            </a:r>
            <a:endParaRPr lang="en-US" sz="3000"/>
          </a:p>
        </p:txBody>
      </p:sp>
      <p:sp>
        <p:nvSpPr>
          <p:cNvPr id="1573673334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Commands used to load, verify, and use the driver</a:t>
            </a:r>
            <a:endParaRPr lang="en-US" sz="1400"/>
          </a:p>
        </p:txBody>
      </p:sp>
      <p:sp>
        <p:nvSpPr>
          <p:cNvPr id="900857566" name="Shape 2"/>
          <p:cNvSpPr/>
          <p:nvPr/>
        </p:nvSpPr>
        <p:spPr bwMode="auto">
          <a:xfrm>
            <a:off x="548640" y="1508759"/>
            <a:ext cx="3017519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408315520" name="Shape 3"/>
          <p:cNvSpPr/>
          <p:nvPr/>
        </p:nvSpPr>
        <p:spPr bwMode="auto">
          <a:xfrm>
            <a:off x="3566160" y="1508759"/>
            <a:ext cx="4709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665609421" name="Text 4"/>
          <p:cNvSpPr txBox="1"/>
          <p:nvPr/>
        </p:nvSpPr>
        <p:spPr bwMode="auto">
          <a:xfrm>
            <a:off x="658368" y="1508759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insmod / rmmod</a:t>
            </a:r>
            <a:endParaRPr sz="1800"/>
          </a:p>
        </p:txBody>
      </p:sp>
      <p:sp>
        <p:nvSpPr>
          <p:cNvPr id="665284109" name="Text 5"/>
          <p:cNvSpPr txBox="1"/>
          <p:nvPr/>
        </p:nvSpPr>
        <p:spPr bwMode="auto">
          <a:xfrm>
            <a:off x="3703320" y="1508759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Load / remove the driver module</a:t>
            </a:r>
            <a:endParaRPr sz="1800"/>
          </a:p>
        </p:txBody>
      </p:sp>
      <p:sp>
        <p:nvSpPr>
          <p:cNvPr id="2075140040" name="Shape 6"/>
          <p:cNvSpPr/>
          <p:nvPr/>
        </p:nvSpPr>
        <p:spPr bwMode="auto">
          <a:xfrm>
            <a:off x="548640" y="2075688"/>
            <a:ext cx="301751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70928306" name="Shape 7"/>
          <p:cNvSpPr/>
          <p:nvPr/>
        </p:nvSpPr>
        <p:spPr bwMode="auto">
          <a:xfrm>
            <a:off x="3566160" y="2075688"/>
            <a:ext cx="4709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418237252" name="Text 8"/>
          <p:cNvSpPr txBox="1"/>
          <p:nvPr/>
        </p:nvSpPr>
        <p:spPr bwMode="auto">
          <a:xfrm>
            <a:off x="658368" y="207568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dmesg</a:t>
            </a:r>
            <a:endParaRPr sz="1800"/>
          </a:p>
        </p:txBody>
      </p:sp>
      <p:sp>
        <p:nvSpPr>
          <p:cNvPr id="1117674736" name="Text 9"/>
          <p:cNvSpPr txBox="1"/>
          <p:nvPr/>
        </p:nvSpPr>
        <p:spPr bwMode="auto">
          <a:xfrm>
            <a:off x="3703320" y="207568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View kernel driver logs</a:t>
            </a:r>
            <a:endParaRPr sz="1800"/>
          </a:p>
        </p:txBody>
      </p:sp>
      <p:sp>
        <p:nvSpPr>
          <p:cNvPr id="991067394" name="Shape 10"/>
          <p:cNvSpPr/>
          <p:nvPr/>
        </p:nvSpPr>
        <p:spPr bwMode="auto">
          <a:xfrm>
            <a:off x="548640" y="2642616"/>
            <a:ext cx="3017519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954820666" name="Shape 11"/>
          <p:cNvSpPr/>
          <p:nvPr/>
        </p:nvSpPr>
        <p:spPr bwMode="auto">
          <a:xfrm>
            <a:off x="3566160" y="2642616"/>
            <a:ext cx="4709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780528157" name="Text 12"/>
          <p:cNvSpPr txBox="1"/>
          <p:nvPr/>
        </p:nvSpPr>
        <p:spPr bwMode="auto">
          <a:xfrm>
            <a:off x="658368" y="264261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lsusb / lsusb -t</a:t>
            </a:r>
            <a:endParaRPr sz="1800"/>
          </a:p>
        </p:txBody>
      </p:sp>
      <p:sp>
        <p:nvSpPr>
          <p:cNvPr id="152242280" name="Text 13"/>
          <p:cNvSpPr txBox="1"/>
          <p:nvPr/>
        </p:nvSpPr>
        <p:spPr bwMode="auto">
          <a:xfrm>
            <a:off x="3703320" y="264261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List USB devices and their driver tree</a:t>
            </a:r>
            <a:endParaRPr sz="1800"/>
          </a:p>
        </p:txBody>
      </p:sp>
      <p:sp>
        <p:nvSpPr>
          <p:cNvPr id="953609831" name="Shape 14"/>
          <p:cNvSpPr/>
          <p:nvPr/>
        </p:nvSpPr>
        <p:spPr bwMode="auto">
          <a:xfrm>
            <a:off x="548640" y="3209544"/>
            <a:ext cx="301751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23251375" name="Shape 15"/>
          <p:cNvSpPr/>
          <p:nvPr/>
        </p:nvSpPr>
        <p:spPr bwMode="auto">
          <a:xfrm>
            <a:off x="3566160" y="3209544"/>
            <a:ext cx="4709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92194227" name="Text 16"/>
          <p:cNvSpPr txBox="1"/>
          <p:nvPr/>
        </p:nvSpPr>
        <p:spPr bwMode="auto">
          <a:xfrm>
            <a:off x="658368" y="320954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mount / umount</a:t>
            </a:r>
            <a:endParaRPr sz="1800"/>
          </a:p>
        </p:txBody>
      </p:sp>
      <p:sp>
        <p:nvSpPr>
          <p:cNvPr id="358973850" name="Text 17"/>
          <p:cNvSpPr txBox="1"/>
          <p:nvPr/>
        </p:nvSpPr>
        <p:spPr bwMode="auto">
          <a:xfrm>
            <a:off x="3703320" y="320954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Mount and unmount the USB drive</a:t>
            </a:r>
            <a:endParaRPr sz="1800"/>
          </a:p>
        </p:txBody>
      </p:sp>
      <p:sp>
        <p:nvSpPr>
          <p:cNvPr id="1165995700" name="Shape 18"/>
          <p:cNvSpPr/>
          <p:nvPr/>
        </p:nvSpPr>
        <p:spPr bwMode="auto">
          <a:xfrm>
            <a:off x="548640" y="3776472"/>
            <a:ext cx="3017519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433205842" name="Shape 19"/>
          <p:cNvSpPr/>
          <p:nvPr/>
        </p:nvSpPr>
        <p:spPr bwMode="auto">
          <a:xfrm>
            <a:off x="3566160" y="3776472"/>
            <a:ext cx="4709160" cy="566928"/>
          </a:xfrm>
          <a:prstGeom prst="rect">
            <a:avLst/>
          </a:prstGeom>
          <a:solidFill>
            <a:srgbClr val="F4F6FB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816856083" name="Text 20"/>
          <p:cNvSpPr txBox="1"/>
          <p:nvPr/>
        </p:nvSpPr>
        <p:spPr bwMode="auto">
          <a:xfrm>
            <a:off x="658368" y="37764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dd</a:t>
            </a:r>
            <a:endParaRPr sz="1800"/>
          </a:p>
        </p:txBody>
      </p:sp>
      <p:sp>
        <p:nvSpPr>
          <p:cNvPr id="2053438464" name="Text 21"/>
          <p:cNvSpPr txBox="1"/>
          <p:nvPr/>
        </p:nvSpPr>
        <p:spPr bwMode="auto">
          <a:xfrm>
            <a:off x="3703320" y="377647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Read/write test data to measure speed</a:t>
            </a:r>
            <a:endParaRPr sz="1800"/>
          </a:p>
        </p:txBody>
      </p:sp>
      <p:sp>
        <p:nvSpPr>
          <p:cNvPr id="220556588" name="Shape 22"/>
          <p:cNvSpPr/>
          <p:nvPr/>
        </p:nvSpPr>
        <p:spPr bwMode="auto">
          <a:xfrm>
            <a:off x="548640" y="4343400"/>
            <a:ext cx="301751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052503347" name="Shape 23"/>
          <p:cNvSpPr/>
          <p:nvPr/>
        </p:nvSpPr>
        <p:spPr bwMode="auto">
          <a:xfrm>
            <a:off x="3566160" y="4343400"/>
            <a:ext cx="4709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713404630" name="Text 24"/>
          <p:cNvSpPr txBox="1"/>
          <p:nvPr/>
        </p:nvSpPr>
        <p:spPr bwMode="auto">
          <a:xfrm>
            <a:off x="658368" y="43434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1E2761"/>
                </a:solidFill>
                <a:latin typeface="Courier New"/>
                <a:ea typeface="Courier New"/>
                <a:cs typeface="Courier New"/>
              </a:rPr>
              <a:t>lsblk / blkid / fdisk</a:t>
            </a:r>
            <a:endParaRPr sz="1800"/>
          </a:p>
        </p:txBody>
      </p:sp>
      <p:sp>
        <p:nvSpPr>
          <p:cNvPr id="1873714857" name="Text 25"/>
          <p:cNvSpPr txBox="1"/>
          <p:nvPr/>
        </p:nvSpPr>
        <p:spPr bwMode="auto">
          <a:xfrm>
            <a:off x="3703320" y="434340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Inspect the block device and partitions</a:t>
            </a:r>
            <a:endParaRPr sz="1800"/>
          </a:p>
        </p:txBody>
      </p:sp>
      <p:sp>
        <p:nvSpPr>
          <p:cNvPr id="1870850018" name="Text 27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205651221" name="Text 28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7309996" name="Text 0"/>
          <p:cNvSpPr txBox="1"/>
          <p:nvPr/>
        </p:nvSpPr>
        <p:spPr bwMode="auto">
          <a:xfrm>
            <a:off x="548640" y="365760"/>
            <a:ext cx="110916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0" i="1" u="none" strike="noStrike" cap="none" spc="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lsusb -v output: device identified as Mass Storage, SCSI, Bulk-Only</a:t>
            </a:r>
            <a:endParaRPr sz="3000"/>
          </a:p>
          <a:p>
            <a:pPr marL="0" indent="0">
              <a:buNone/>
              <a:defRPr/>
            </a:pPr>
            <a:endParaRPr lang="en-US" sz="3000"/>
          </a:p>
        </p:txBody>
      </p:sp>
      <p:pic>
        <p:nvPicPr>
          <p:cNvPr id="1807987958" name="Image 0" descr="/mnt/user-data/uploads/1000032583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4456" y="1309399"/>
            <a:ext cx="9558101" cy="4870774"/>
          </a:xfrm>
          <a:prstGeom prst="rect">
            <a:avLst/>
          </a:prstGeom>
        </p:spPr>
      </p:pic>
      <p:sp>
        <p:nvSpPr>
          <p:cNvPr id="1706448484" name="Text 26"/>
          <p:cNvSpPr txBox="1"/>
          <p:nvPr/>
        </p:nvSpPr>
        <p:spPr bwMode="auto">
          <a:xfrm>
            <a:off x="9006840" y="482493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742839406" name="Text 27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989885435" name="Text 28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030071" name="Text 0"/>
          <p:cNvSpPr txBox="1"/>
          <p:nvPr/>
        </p:nvSpPr>
        <p:spPr bwMode="auto">
          <a:xfrm>
            <a:off x="548640" y="365760"/>
            <a:ext cx="110916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sz="2400" b="1">
                <a:solidFill>
                  <a:srgbClr val="1E2761"/>
                </a:solidFill>
              </a:rPr>
              <a:t>USB Device Detection </a:t>
            </a:r>
            <a:endParaRPr/>
          </a:p>
        </p:txBody>
      </p:sp>
      <p:sp>
        <p:nvSpPr>
          <p:cNvPr id="1690581753" name="Text 26"/>
          <p:cNvSpPr txBox="1"/>
          <p:nvPr/>
        </p:nvSpPr>
        <p:spPr bwMode="auto">
          <a:xfrm>
            <a:off x="9006840" y="4824936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950"/>
          </a:p>
        </p:txBody>
      </p:sp>
      <p:sp>
        <p:nvSpPr>
          <p:cNvPr id="1591963524" name="Text 27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1031565858" name="Text 28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9</a:t>
            </a:r>
            <a:endParaRPr lang="en-US" sz="900"/>
          </a:p>
        </p:txBody>
      </p:sp>
      <p:pic>
        <p:nvPicPr>
          <p:cNvPr id="15963291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66162" y="1005840"/>
            <a:ext cx="9591453" cy="5240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550130" name="Text 0"/>
          <p:cNvSpPr txBox="1"/>
          <p:nvPr/>
        </p:nvSpPr>
        <p:spPr bwMode="auto"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Test 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Results</a:t>
            </a:r>
            <a:endParaRPr lang="en-US" sz="3000"/>
          </a:p>
        </p:txBody>
      </p:sp>
      <p:sp>
        <p:nvSpPr>
          <p:cNvPr id="1636134961" name="Text 1"/>
          <p:cNvSpPr txBox="1"/>
          <p:nvPr/>
        </p:nvSpPr>
        <p:spPr bwMode="auto"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Driver verified with a real USB flash drive</a:t>
            </a:r>
            <a:endParaRPr lang="en-US" sz="1400"/>
          </a:p>
        </p:txBody>
      </p:sp>
      <p:pic>
        <p:nvPicPr>
          <p:cNvPr id="1426811271" name="Image 0" descr="/mnt/user-data/uploads/1000032585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8640" y="1684551"/>
            <a:ext cx="4572000" cy="647480"/>
          </a:xfrm>
          <a:prstGeom prst="rect">
            <a:avLst/>
          </a:prstGeom>
        </p:spPr>
      </p:pic>
      <p:sp>
        <p:nvSpPr>
          <p:cNvPr id="130696243" name="Text 2"/>
          <p:cNvSpPr txBox="1"/>
          <p:nvPr/>
        </p:nvSpPr>
        <p:spPr bwMode="auto">
          <a:xfrm>
            <a:off x="548640" y="262669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Mount and file listing on /dev/myusb0p2</a:t>
            </a:r>
            <a:endParaRPr sz="1400"/>
          </a:p>
        </p:txBody>
      </p:sp>
      <p:pic>
        <p:nvPicPr>
          <p:cNvPr id="467433025" name="Image 1" descr="/mnt/user-data/uploads/1000032586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8639" y="3084922"/>
            <a:ext cx="4572000" cy="732696"/>
          </a:xfrm>
          <a:prstGeom prst="rect">
            <a:avLst/>
          </a:prstGeom>
        </p:spPr>
      </p:pic>
      <p:sp>
        <p:nvSpPr>
          <p:cNvPr id="1315206941" name="Text 3"/>
          <p:cNvSpPr txBox="1"/>
          <p:nvPr/>
        </p:nvSpPr>
        <p:spPr bwMode="auto">
          <a:xfrm>
            <a:off x="548640" y="3945229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Write test: 100 MB written at 34 MB/s (dd)</a:t>
            </a:r>
            <a:endParaRPr sz="1400"/>
          </a:p>
        </p:txBody>
      </p:sp>
      <p:pic>
        <p:nvPicPr>
          <p:cNvPr id="536696616" name="Image 2" descr="/mnt/user-data/uploads/1000032587.jp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48640" y="4452383"/>
            <a:ext cx="4572000" cy="614545"/>
          </a:xfrm>
          <a:prstGeom prst="rect">
            <a:avLst/>
          </a:prstGeom>
        </p:spPr>
      </p:pic>
      <p:sp>
        <p:nvSpPr>
          <p:cNvPr id="1975575687" name="Text 4"/>
          <p:cNvSpPr txBox="1"/>
          <p:nvPr/>
        </p:nvSpPr>
        <p:spPr bwMode="auto">
          <a:xfrm>
            <a:off x="548640" y="52508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i="1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Read test: 390 MB read at 97 MB/s (dd)</a:t>
            </a:r>
            <a:endParaRPr sz="1400"/>
          </a:p>
        </p:txBody>
      </p:sp>
      <p:sp>
        <p:nvSpPr>
          <p:cNvPr id="2063764196" name="Shape 5"/>
          <p:cNvSpPr/>
          <p:nvPr/>
        </p:nvSpPr>
        <p:spPr bwMode="auto">
          <a:xfrm>
            <a:off x="5440680" y="1463040"/>
            <a:ext cx="6172200" cy="4709160"/>
          </a:xfrm>
          <a:prstGeom prst="roundRect">
            <a:avLst>
              <a:gd name="adj" fmla="val 1165"/>
            </a:avLst>
          </a:prstGeom>
          <a:solidFill>
            <a:srgbClr val="F4F6FB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03475494" name="Text 6"/>
          <p:cNvSpPr txBox="1"/>
          <p:nvPr/>
        </p:nvSpPr>
        <p:spPr bwMode="auto">
          <a:xfrm>
            <a:off x="5715000" y="16916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Results Show</a:t>
            </a:r>
            <a:endParaRPr lang="en-US" sz="1600"/>
          </a:p>
        </p:txBody>
      </p:sp>
      <p:sp>
        <p:nvSpPr>
          <p:cNvPr id="769500475" name="Text 7"/>
          <p:cNvSpPr txBox="1"/>
          <p:nvPr/>
        </p:nvSpPr>
        <p:spPr bwMode="auto">
          <a:xfrm>
            <a:off x="5715000" y="2121408"/>
            <a:ext cx="56235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lsusb confirmed the device as Mass Storage, SCSI, Bulk-Only — our driver's probe() matched and loaded</a:t>
            </a:r>
            <a:endParaRPr lang="en-US" sz="1200"/>
          </a:p>
          <a:p>
            <a:pPr marL="177800" indent="-177800">
              <a:spcAft>
                <a:spcPts val="12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Block device /dev/myusb0 was created; mount succeeded and files were listed normally, proving read requests work</a:t>
            </a:r>
            <a:endParaRPr lang="en-US" sz="1200"/>
          </a:p>
          <a:p>
            <a:pPr marL="177800" indent="-177800">
              <a:spcAft>
                <a:spcPts val="12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dd write test: 100 MB written at 34 MB/s — confirms the WRITE(10) path works end-to-end</a:t>
            </a:r>
            <a:endParaRPr lang="en-US" sz="1200"/>
          </a:p>
          <a:p>
            <a:pPr marL="177800" indent="-177800">
              <a:spcAft>
                <a:spcPts val="12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dd read test: 390 MB read at 97 MB/s — confirms the READ(10) path works end-to-end</a:t>
            </a:r>
            <a:endParaRPr lang="en-US" sz="1200"/>
          </a:p>
          <a:p>
            <a:pPr marL="177800" indent="-177800">
              <a:spcAft>
                <a:spcPts val="12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No crashes or hangs during repeated mount/unmount and disconnect, showing error handling works as designed</a:t>
            </a:r>
            <a:endParaRPr lang="en-US" sz="1200"/>
          </a:p>
        </p:txBody>
      </p:sp>
      <p:sp>
        <p:nvSpPr>
          <p:cNvPr id="1334474378" name="Shape 8"/>
          <p:cNvSpPr/>
          <p:nvPr/>
        </p:nvSpPr>
        <p:spPr bwMode="auto">
          <a:xfrm>
            <a:off x="5715000" y="4800600"/>
            <a:ext cx="5623560" cy="0"/>
          </a:xfrm>
          <a:prstGeom prst="line">
            <a:avLst/>
          </a:prstGeom>
          <a:noFill/>
          <a:ln w="12700">
            <a:solidFill>
              <a:srgbClr val="C7CEE0"/>
            </a:solidFill>
            <a:prstDash val="solid"/>
          </a:ln>
        </p:spPr>
      </p:sp>
      <p:sp>
        <p:nvSpPr>
          <p:cNvPr id="2106468191" name="Text 9"/>
          <p:cNvSpPr txBox="1"/>
          <p:nvPr/>
        </p:nvSpPr>
        <p:spPr bwMode="auto">
          <a:xfrm>
            <a:off x="5715000" y="493776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400"/>
          </a:p>
        </p:txBody>
      </p:sp>
      <p:sp>
        <p:nvSpPr>
          <p:cNvPr id="1207065264" name="Text 10"/>
          <p:cNvSpPr txBox="1"/>
          <p:nvPr/>
        </p:nvSpPr>
        <p:spPr bwMode="auto">
          <a:xfrm>
            <a:off x="5715000" y="5276088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50">
                <a:solidFill>
                  <a:srgbClr val="1F2430"/>
                </a:solidFill>
                <a:latin typeface="Calibri"/>
                <a:ea typeface="Calibri"/>
                <a:cs typeface="Calibri"/>
              </a:rPr>
              <a:t>The driver successfully implements USB Mass Storage over Bulk-Only Transport, from device detection to block-level read/write, using the Linux blk-mq framework. All results shown above are from testing with a real USB flash drive.</a:t>
            </a:r>
            <a:endParaRPr lang="en-US" sz="1150"/>
          </a:p>
        </p:txBody>
      </p:sp>
      <p:sp>
        <p:nvSpPr>
          <p:cNvPr id="1547623614" name="Text 11"/>
          <p:cNvSpPr txBox="1"/>
          <p:nvPr/>
        </p:nvSpPr>
        <p:spPr bwMode="auto"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USB Mass Storage Device Driver</a:t>
            </a:r>
            <a:endParaRPr lang="en-US" sz="900"/>
          </a:p>
        </p:txBody>
      </p:sp>
      <p:sp>
        <p:nvSpPr>
          <p:cNvPr id="970680838" name="Text 12"/>
          <p:cNvSpPr txBox="1"/>
          <p:nvPr/>
        </p:nvSpPr>
        <p:spPr bwMode="auto"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900">
                <a:solidFill>
                  <a:srgbClr val="51565F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2026-09-04T10:15:28Z</dcterms:created>
  <dcterms:modified xsi:type="dcterms:W3CDTF">2026-09-04T12:07:28Z</dcterms:modified>
</cp:coreProperties>
</file>